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Proxima Nova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roximaNova-bold.fntdata"/><Relationship Id="rId14" Type="http://schemas.openxmlformats.org/officeDocument/2006/relationships/slide" Target="slides/slide9.xml"/><Relationship Id="rId36" Type="http://schemas.openxmlformats.org/officeDocument/2006/relationships/font" Target="fonts/ProximaNova-regular.fntdata"/><Relationship Id="rId17" Type="http://schemas.openxmlformats.org/officeDocument/2006/relationships/slide" Target="slides/slide12.xml"/><Relationship Id="rId39" Type="http://schemas.openxmlformats.org/officeDocument/2006/relationships/font" Target="fonts/ProximaNova-boldItalic.fntdata"/><Relationship Id="rId16" Type="http://schemas.openxmlformats.org/officeDocument/2006/relationships/slide" Target="slides/slide11.xml"/><Relationship Id="rId38" Type="http://schemas.openxmlformats.org/officeDocument/2006/relationships/font" Target="fonts/ProximaNova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01fc03cc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01fc03cc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1e746d7e4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1e746d7e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01fc03cc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01fc03c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6159beed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6159beed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1e746d7e4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1e746d7e4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0b54ecb1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0b54ecb1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1e746d7e4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1e746d7e4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7551ea0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7551ea0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1b86b842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1b86b842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1b86b842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1b86b842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1b86b842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1b86b842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1b86b842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1b86b842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5e39cc2f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35e39cc2f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35e39cc2f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35e39cc2f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01fc03cc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01fc03cc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01fc03cc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01fc03cc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01fc03cc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01fc03cc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01fc03cc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501fc03cc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6191c72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36191c72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1e746d7e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1e746d7e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1e746d7e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51e746d7e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36159beed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36159beed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01fc03cc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501fc03cc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1e746d7e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51e746d7e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36159beed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36159beed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36159beed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36159beed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01fc03cc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501fc03cc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36159beed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36159beed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36159beed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36159beed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jpg"/><Relationship Id="rId4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ithub.com/IsaacWeber1/final_results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522550"/>
            <a:ext cx="8123100" cy="18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20"/>
              <a:t>Assessing University Curricula on Hydrogen Education</a:t>
            </a:r>
            <a:endParaRPr sz="4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422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076850"/>
            <a:ext cx="85206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Supervisor:</a:t>
            </a:r>
            <a:r>
              <a:rPr lang="en" sz="1800"/>
              <a:t> </a:t>
            </a:r>
            <a:r>
              <a:rPr lang="en" sz="1800"/>
              <a:t>Ashley Roberts, Jeremy Keffer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Team Lead:</a:t>
            </a:r>
            <a:r>
              <a:rPr lang="en" sz="1800"/>
              <a:t> </a:t>
            </a:r>
            <a:r>
              <a:rPr lang="en" sz="1800"/>
              <a:t>Isaac Weber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Project Members:</a:t>
            </a:r>
            <a:r>
              <a:rPr lang="en" sz="1800"/>
              <a:t> </a:t>
            </a:r>
            <a:r>
              <a:rPr lang="en" sz="1800"/>
              <a:t>Kerry Ferguson, Logan Levine, James Lloyd, Thomas Pelosi, </a:t>
            </a:r>
            <a:r>
              <a:rPr lang="en" sz="1800"/>
              <a:t>Alexander Peluso, Zachary Pruett</a:t>
            </a:r>
            <a:endParaRPr sz="1800"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0275" y="4470350"/>
            <a:ext cx="3272175" cy="59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8650" y="4470350"/>
            <a:ext cx="1529145" cy="5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510450" y="1877288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2024 - 2025 Senior Design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Items for Today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152475"/>
            <a:ext cx="8520600" cy="38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Project Introduction</a:t>
            </a:r>
            <a:br>
              <a:rPr lang="en" sz="2100"/>
            </a:br>
            <a:r>
              <a:rPr lang="en" sz="2100"/>
              <a:t>	</a:t>
            </a:r>
            <a:r>
              <a:rPr lang="en" sz="2100"/>
              <a:t>Context, goals, and why structured data matters</a:t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Pipeline Overview and Development Process</a:t>
            </a:r>
            <a:endParaRPr sz="21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Complete Data Pipeline: Acquisition, Process, Analysis and Display</a:t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Results and Visualizations</a:t>
            </a:r>
            <a:br>
              <a:rPr lang="en" sz="2100"/>
            </a:br>
            <a:r>
              <a:rPr lang="en" sz="2100"/>
              <a:t>	Web and PDF scraping outcomes — successes and challenges</a:t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1000"/>
              </a:spcAft>
              <a:buSzPts val="2100"/>
              <a:buChar char="●"/>
            </a:pPr>
            <a:r>
              <a:rPr b="1" lang="en" sz="2100"/>
              <a:t>Final Steps &amp; Takeaways</a:t>
            </a:r>
            <a:br>
              <a:rPr lang="en" sz="2100"/>
            </a:br>
            <a:r>
              <a:rPr lang="en" sz="2100"/>
              <a:t>	Remaining tasks, handoff readiness, and lessons learned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65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— The Challenge Presented and </a:t>
            </a:r>
            <a:r>
              <a:rPr lang="en"/>
              <a:t>its Importance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52475"/>
            <a:ext cx="8520600" cy="37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energy transition is reshaping the U.S. economy, and hydrogen plays a central role in decarbonization across multiple industries—from power to transport to manufacturing.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Workforce readiness is a critical bottleneck. </a:t>
            </a:r>
            <a:r>
              <a:rPr lang="en"/>
              <a:t>The hydrogen industry spans across multiple sectors and use cases</a:t>
            </a:r>
            <a:r>
              <a:rPr lang="en"/>
              <a:t>, but it’s unclear what knowledge and skills align with which specific roles, and current university offerings are fragmented and inconsistent.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Without better visibility into hydrogen-focused coursework, stakeholders risk mismatches between workforce training and real-world needs. This slows deployment, weakens collaboration, and hinders strategic planning across regions.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 — What are We Trying to Accomplish?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7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a structured dataset of university course offerings relevant to hydrogen.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scalable web and PDF scraping to collect course descriptions from priority and non-priority institutions.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 a classification system to assess course relevance based on hydrogen-specific keywords and themes.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metrics, visualizations, and confirmation tools to support data quality and facilitate stakeholder decision-making.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Provide clear documentation to ensure future usability by non-programmers and policy-focused users.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Structured Data for Analysis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bother with structured output? Counting keywords would be much easier.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Raw keyword counts are noisy and often misleading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 single page might match a keyword many times without actually describing a course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 structure by course?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Ensures one-to-one mapping between content and educational offerings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Enables consistent comparison across institutions, regardless of catalog format or verbosity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structured data unlocks: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Aggregation by department, course level, or degree type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Confirmation workflows and duplicate detection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Pipeline &amp; Development Process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Overview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3999900" cy="38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Data Sources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University course catalogs (websites and PDFs)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Broad range of formats and structures across schools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Extraction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Custom scraping tools built for both HTML and PDF sources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Handled JavaScript-heavy sites and unstructured PDF data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Adapted to site-specific challenges with config-driven scrapers</a:t>
            </a:r>
            <a:endParaRPr/>
          </a:p>
        </p:txBody>
      </p:sp>
      <p:sp>
        <p:nvSpPr>
          <p:cNvPr id="99" name="Google Shape;99;p19"/>
          <p:cNvSpPr txBox="1"/>
          <p:nvPr>
            <p:ph idx="4294967295" type="body"/>
          </p:nvPr>
        </p:nvSpPr>
        <p:spPr>
          <a:xfrm>
            <a:off x="4832400" y="1152475"/>
            <a:ext cx="3999900" cy="3883800"/>
          </a:xfrm>
          <a:prstGeom prst="rect">
            <a:avLst/>
          </a:prstGeom>
        </p:spPr>
        <p:txBody>
          <a:bodyPr anchorCtr="0" anchor="t" bIns="91425" lIns="857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b="1" lang="en"/>
              <a:t>Transformation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Standardized course data across schools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Applied keyword scoring algorithms to quantify hydrogen relevance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Generated derived fields and confirmed data integrity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 startAt="3"/>
            </a:pPr>
            <a:r>
              <a:rPr b="1" lang="en"/>
              <a:t>Analysis &amp; Visualization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Identified patterns in hydrogen-related curricula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Built keyword heatmaps, group occurrence charts, and relevance metrics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Scraping Methods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19975"/>
            <a:ext cx="3999900" cy="3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17"/>
              <a:t>Web Scraping</a:t>
            </a:r>
            <a:endParaRPr b="1" sz="1917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Pros: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Real-time data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</a:t>
            </a:r>
            <a:r>
              <a:rPr lang="en"/>
              <a:t> automation</a:t>
            </a:r>
            <a:r>
              <a:rPr lang="en"/>
              <a:t>-ready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Cons: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Breaks with site changes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Anti-scraping measures</a:t>
            </a:r>
            <a:endParaRPr b="1"/>
          </a:p>
        </p:txBody>
      </p:sp>
      <p:sp>
        <p:nvSpPr>
          <p:cNvPr id="106" name="Google Shape;106;p20"/>
          <p:cNvSpPr txBox="1"/>
          <p:nvPr>
            <p:ph idx="4294967295" type="body"/>
          </p:nvPr>
        </p:nvSpPr>
        <p:spPr>
          <a:xfrm>
            <a:off x="4832400" y="1119975"/>
            <a:ext cx="3999900" cy="3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29"/>
              <a:t>PDF Scraping</a:t>
            </a:r>
            <a:endParaRPr b="1" sz="1929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Pros: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Common format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Works offline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Cons: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Highly i</a:t>
            </a:r>
            <a:r>
              <a:rPr lang="en"/>
              <a:t>nconsistent formatting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Hard to create generalized scraping tool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Scraping Iterations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261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Nai</a:t>
            </a:r>
            <a:r>
              <a:rPr b="1" lang="en"/>
              <a:t>ve Scraper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modularization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school requiring complete scraping logic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High amount of repeated code</a:t>
            </a:r>
            <a:endParaRPr/>
          </a:p>
        </p:txBody>
      </p:sp>
      <p:sp>
        <p:nvSpPr>
          <p:cNvPr id="113" name="Google Shape;113;p21"/>
          <p:cNvSpPr txBox="1"/>
          <p:nvPr>
            <p:ph idx="4294967295" type="body"/>
          </p:nvPr>
        </p:nvSpPr>
        <p:spPr>
          <a:xfrm>
            <a:off x="3265340" y="1152475"/>
            <a:ext cx="261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2"/>
            </a:pPr>
            <a:r>
              <a:rPr b="1" lang="en"/>
              <a:t>Spider </a:t>
            </a:r>
            <a:r>
              <a:rPr b="1" lang="en"/>
              <a:t>Base Class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 schools created as extension of base class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reuse of basic operations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Some repeated code for scrapers</a:t>
            </a:r>
            <a:endParaRPr/>
          </a:p>
        </p:txBody>
      </p:sp>
      <p:sp>
        <p:nvSpPr>
          <p:cNvPr id="114" name="Google Shape;114;p21"/>
          <p:cNvSpPr txBox="1"/>
          <p:nvPr>
            <p:ph idx="4294967295" type="body"/>
          </p:nvPr>
        </p:nvSpPr>
        <p:spPr>
          <a:xfrm>
            <a:off x="6218984" y="1152475"/>
            <a:ext cx="261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b="1" lang="en"/>
              <a:t>Scraper Module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Complete abstraction from scraping framework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code needed for new scraper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Instead pass in HTML selectors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Scrap</a:t>
            </a:r>
            <a:r>
              <a:rPr lang="en"/>
              <a:t>er</a:t>
            </a:r>
            <a:r>
              <a:rPr lang="en"/>
              <a:t> Module Labeled Example — Pagination</a:t>
            </a:r>
            <a:endParaRPr/>
          </a:p>
        </p:txBody>
      </p:sp>
      <p:pic>
        <p:nvPicPr>
          <p:cNvPr id="120" name="Google Shape;120;p22" title="Screenshot 2025-04-29 at 2.26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2243" y="1152475"/>
            <a:ext cx="502593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 title="Screenshot 2025-04-29 at 2.29.5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500" y="1152475"/>
            <a:ext cx="2715415" cy="382097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/>
          <p:nvPr/>
        </p:nvSpPr>
        <p:spPr>
          <a:xfrm>
            <a:off x="4351100" y="2322950"/>
            <a:ext cx="3157200" cy="139200"/>
          </a:xfrm>
          <a:prstGeom prst="roundRect">
            <a:avLst>
              <a:gd fmla="val 16667" name="adj"/>
            </a:avLst>
          </a:prstGeom>
          <a:solidFill>
            <a:srgbClr val="EA9999">
              <a:alpha val="28000"/>
            </a:srgbClr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3" name="Google Shape;123;p22"/>
          <p:cNvSpPr/>
          <p:nvPr/>
        </p:nvSpPr>
        <p:spPr>
          <a:xfrm>
            <a:off x="3881775" y="1547550"/>
            <a:ext cx="4950600" cy="1500900"/>
          </a:xfrm>
          <a:prstGeom prst="roundRect">
            <a:avLst>
              <a:gd fmla="val 9820" name="adj"/>
            </a:avLst>
          </a:prstGeom>
          <a:solidFill>
            <a:srgbClr val="F6B26B">
              <a:alpha val="27500"/>
            </a:srgbClr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7441625" y="1730650"/>
            <a:ext cx="1336500" cy="411000"/>
          </a:xfrm>
          <a:prstGeom prst="wedgeRoundRectCallout">
            <a:avLst>
              <a:gd fmla="val -71184" name="adj1"/>
              <a:gd fmla="val 94246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Limit where searching for links</a:t>
            </a:r>
            <a:endParaRPr b="1"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5" name="Google Shape;125;p22"/>
          <p:cNvSpPr/>
          <p:nvPr/>
        </p:nvSpPr>
        <p:spPr>
          <a:xfrm>
            <a:off x="4111944" y="1900825"/>
            <a:ext cx="2341500" cy="139200"/>
          </a:xfrm>
          <a:prstGeom prst="roundRect">
            <a:avLst>
              <a:gd fmla="val 16667" name="adj"/>
            </a:avLst>
          </a:prstGeom>
          <a:solidFill>
            <a:srgbClr val="EA9999">
              <a:alpha val="28000"/>
            </a:srgbClr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6073700" y="1280050"/>
            <a:ext cx="1206000" cy="411000"/>
          </a:xfrm>
          <a:prstGeom prst="wedgeRoundRectCallout">
            <a:avLst>
              <a:gd fmla="val -81893" name="adj1"/>
              <a:gd fmla="val 100108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Start URL to search on</a:t>
            </a:r>
            <a:endParaRPr b="1"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Scraper</a:t>
            </a:r>
            <a:r>
              <a:rPr lang="en"/>
              <a:t> </a:t>
            </a:r>
            <a:r>
              <a:rPr lang="en"/>
              <a:t>Module </a:t>
            </a:r>
            <a:r>
              <a:rPr lang="en"/>
              <a:t>Labeled Example</a:t>
            </a:r>
            <a:r>
              <a:rPr lang="en"/>
              <a:t> — Pagination</a:t>
            </a:r>
            <a:endParaRPr/>
          </a:p>
        </p:txBody>
      </p:sp>
      <p:pic>
        <p:nvPicPr>
          <p:cNvPr id="132" name="Google Shape;132;p23" title="Screenshot 2025-04-29 at 2.26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2243" y="1152475"/>
            <a:ext cx="5025930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/>
          <p:nvPr/>
        </p:nvSpPr>
        <p:spPr>
          <a:xfrm>
            <a:off x="3881775" y="1547550"/>
            <a:ext cx="4950600" cy="1500900"/>
          </a:xfrm>
          <a:prstGeom prst="roundRect">
            <a:avLst>
              <a:gd fmla="val 9820" name="adj"/>
            </a:avLst>
          </a:prstGeom>
          <a:solidFill>
            <a:srgbClr val="F6B26B">
              <a:alpha val="27500"/>
            </a:srgbClr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7558325" y="1999050"/>
            <a:ext cx="1254600" cy="572700"/>
          </a:xfrm>
          <a:prstGeom prst="wedgeRoundRectCallout">
            <a:avLst>
              <a:gd fmla="val -71017" name="adj1"/>
              <a:gd fmla="val 84202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Identify when target page has been found</a:t>
            </a:r>
            <a:endParaRPr b="1"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5" name="Google Shape;135;p23" title="Screenshot 2025-04-29 at 2.37.4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52475"/>
            <a:ext cx="3037262" cy="382097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/>
          <p:nvPr/>
        </p:nvSpPr>
        <p:spPr>
          <a:xfrm>
            <a:off x="3917113" y="2763350"/>
            <a:ext cx="4876200" cy="139200"/>
          </a:xfrm>
          <a:prstGeom prst="roundRect">
            <a:avLst>
              <a:gd fmla="val 16667" name="adj"/>
            </a:avLst>
          </a:prstGeom>
          <a:solidFill>
            <a:srgbClr val="EA9999">
              <a:alpha val="28000"/>
            </a:srgbClr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4366075" y="2464950"/>
            <a:ext cx="1998900" cy="139200"/>
          </a:xfrm>
          <a:prstGeom prst="roundRect">
            <a:avLst>
              <a:gd fmla="val 16667" name="adj"/>
            </a:avLst>
          </a:prstGeom>
          <a:solidFill>
            <a:srgbClr val="EA9999">
              <a:alpha val="28000"/>
            </a:srgbClr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6046750" y="1735825"/>
            <a:ext cx="1206000" cy="535800"/>
          </a:xfrm>
          <a:prstGeom prst="wedgeRoundRectCallout">
            <a:avLst>
              <a:gd fmla="val -68876" name="adj1"/>
              <a:gd fmla="val 85382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Select next page to search</a:t>
            </a:r>
            <a:endParaRPr b="1"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Scraper </a:t>
            </a:r>
            <a:r>
              <a:rPr lang="en"/>
              <a:t>Module </a:t>
            </a:r>
            <a:r>
              <a:rPr lang="en"/>
              <a:t>Labeled Example — Extraction</a:t>
            </a:r>
            <a:endParaRPr/>
          </a:p>
        </p:txBody>
      </p:sp>
      <p:pic>
        <p:nvPicPr>
          <p:cNvPr id="144" name="Google Shape;144;p24" title="Screenshot 2025-04-29 at 2.26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2243" y="1152475"/>
            <a:ext cx="5025930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4"/>
          <p:cNvSpPr/>
          <p:nvPr/>
        </p:nvSpPr>
        <p:spPr>
          <a:xfrm>
            <a:off x="4084400" y="3018550"/>
            <a:ext cx="4361100" cy="1782300"/>
          </a:xfrm>
          <a:prstGeom prst="roundRect">
            <a:avLst>
              <a:gd fmla="val 5511" name="adj"/>
            </a:avLst>
          </a:prstGeom>
          <a:solidFill>
            <a:srgbClr val="F6B26B">
              <a:alpha val="27500"/>
            </a:srgbClr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6" name="Google Shape;146;p24" title="Screenshot 2025-04-29 at 3.07.11 PM.png"/>
          <p:cNvPicPr preferRelativeResize="0"/>
          <p:nvPr/>
        </p:nvPicPr>
        <p:blipFill rotWithShape="1">
          <a:blip r:embed="rId4">
            <a:alphaModFix/>
          </a:blip>
          <a:srcRect b="12762" l="0" r="0" t="0"/>
          <a:stretch/>
        </p:blipFill>
        <p:spPr>
          <a:xfrm>
            <a:off x="399300" y="1252725"/>
            <a:ext cx="3123301" cy="362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/>
          <p:nvPr/>
        </p:nvSpPr>
        <p:spPr>
          <a:xfrm>
            <a:off x="4572000" y="3470525"/>
            <a:ext cx="3683700" cy="139200"/>
          </a:xfrm>
          <a:prstGeom prst="roundRect">
            <a:avLst>
              <a:gd fmla="val 16667" name="adj"/>
            </a:avLst>
          </a:prstGeom>
          <a:solidFill>
            <a:srgbClr val="EA9999">
              <a:alpha val="28000"/>
            </a:srgbClr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6895975" y="2884299"/>
            <a:ext cx="1403400" cy="472200"/>
          </a:xfrm>
          <a:prstGeom prst="wedgeRoundRectCallout">
            <a:avLst>
              <a:gd fmla="val -67098" name="adj1"/>
              <a:gd fmla="val 74291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Define new </a:t>
            </a: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search</a:t>
            </a: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 space for courses</a:t>
            </a:r>
            <a:endParaRPr b="1"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4132700" y="3050800"/>
            <a:ext cx="462900" cy="139200"/>
          </a:xfrm>
          <a:prstGeom prst="roundRect">
            <a:avLst>
              <a:gd fmla="val 16667" name="adj"/>
            </a:avLst>
          </a:prstGeom>
          <a:solidFill>
            <a:srgbClr val="EA9999">
              <a:alpha val="28000"/>
            </a:srgbClr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4756375" y="2318225"/>
            <a:ext cx="1403400" cy="606600"/>
          </a:xfrm>
          <a:prstGeom prst="wedgeRoundRectCallout">
            <a:avLst>
              <a:gd fmla="val -67199" name="adj1"/>
              <a:gd fmla="val 71443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Executed on each target page found by pagination</a:t>
            </a:r>
            <a:endParaRPr b="1"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Scraper </a:t>
            </a:r>
            <a:r>
              <a:rPr lang="en"/>
              <a:t>Module </a:t>
            </a:r>
            <a:r>
              <a:rPr lang="en"/>
              <a:t>Labeled Example</a:t>
            </a:r>
            <a:r>
              <a:rPr lang="en"/>
              <a:t> — Extraction</a:t>
            </a:r>
            <a:endParaRPr/>
          </a:p>
        </p:txBody>
      </p:sp>
      <p:pic>
        <p:nvPicPr>
          <p:cNvPr id="156" name="Google Shape;156;p25" title="Screenshot 2025-04-29 at 2.26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2243" y="1152475"/>
            <a:ext cx="5025930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/>
          <p:nvPr/>
        </p:nvSpPr>
        <p:spPr>
          <a:xfrm>
            <a:off x="4279350" y="3163225"/>
            <a:ext cx="4166100" cy="1499100"/>
          </a:xfrm>
          <a:prstGeom prst="roundRect">
            <a:avLst>
              <a:gd fmla="val 5511" name="adj"/>
            </a:avLst>
          </a:prstGeom>
          <a:solidFill>
            <a:srgbClr val="F6B26B">
              <a:alpha val="27500"/>
            </a:srgbClr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4572000" y="3622050"/>
            <a:ext cx="1489500" cy="139200"/>
          </a:xfrm>
          <a:prstGeom prst="roundRect">
            <a:avLst>
              <a:gd fmla="val 16667" name="adj"/>
            </a:avLst>
          </a:prstGeom>
          <a:solidFill>
            <a:srgbClr val="EA9999">
              <a:alpha val="28000"/>
            </a:srgbClr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9" name="Google Shape;159;p25" title="Screenshot 2025-04-29 at 3.09.4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375" y="1228213"/>
            <a:ext cx="3275149" cy="3669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/>
          <p:nvPr/>
        </p:nvSpPr>
        <p:spPr>
          <a:xfrm>
            <a:off x="5202275" y="2903775"/>
            <a:ext cx="1706100" cy="572700"/>
          </a:xfrm>
          <a:prstGeom prst="wedgeRoundRectCallout">
            <a:avLst>
              <a:gd fmla="val -66497" name="adj1"/>
              <a:gd fmla="val 76379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Iterates through each course using the repeating HTML tag</a:t>
            </a:r>
            <a:endParaRPr b="1"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4827300" y="3906825"/>
            <a:ext cx="3568500" cy="296100"/>
          </a:xfrm>
          <a:prstGeom prst="roundRect">
            <a:avLst>
              <a:gd fmla="val 16667" name="adj"/>
            </a:avLst>
          </a:prstGeom>
          <a:solidFill>
            <a:srgbClr val="EA9999">
              <a:alpha val="28000"/>
            </a:srgbClr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2" name="Google Shape;162;p25"/>
          <p:cNvSpPr/>
          <p:nvPr/>
        </p:nvSpPr>
        <p:spPr>
          <a:xfrm>
            <a:off x="7044025" y="3290850"/>
            <a:ext cx="1800300" cy="438000"/>
          </a:xfrm>
          <a:prstGeom prst="wedgeRoundRectCallout">
            <a:avLst>
              <a:gd fmla="val -59426" name="adj1"/>
              <a:gd fmla="val 9005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Extract</a:t>
            </a: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 title and course description for each course</a:t>
            </a:r>
            <a:endParaRPr b="1"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6" title="Screenshot 2025-05-14 at 7.37.2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275" y="1204675"/>
            <a:ext cx="5613701" cy="34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Scraper Module Labeled Example — Using Catoid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9" name="Google Shape;169;p26"/>
          <p:cNvSpPr/>
          <p:nvPr/>
        </p:nvSpPr>
        <p:spPr>
          <a:xfrm>
            <a:off x="1381800" y="1524150"/>
            <a:ext cx="5442000" cy="1718400"/>
          </a:xfrm>
          <a:prstGeom prst="roundRect">
            <a:avLst>
              <a:gd fmla="val 5511" name="adj"/>
            </a:avLst>
          </a:prstGeom>
          <a:solidFill>
            <a:srgbClr val="F6B26B">
              <a:alpha val="27500"/>
            </a:srgbClr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0" name="Google Shape;170;p26"/>
          <p:cNvSpPr/>
          <p:nvPr/>
        </p:nvSpPr>
        <p:spPr>
          <a:xfrm>
            <a:off x="4888025" y="1883000"/>
            <a:ext cx="602400" cy="170100"/>
          </a:xfrm>
          <a:prstGeom prst="roundRect">
            <a:avLst>
              <a:gd fmla="val 16667" name="adj"/>
            </a:avLst>
          </a:prstGeom>
          <a:solidFill>
            <a:srgbClr val="EA9999">
              <a:alpha val="28000"/>
            </a:srgbClr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2169825" y="3047450"/>
            <a:ext cx="699900" cy="170100"/>
          </a:xfrm>
          <a:prstGeom prst="roundRect">
            <a:avLst>
              <a:gd fmla="val 16667" name="adj"/>
            </a:avLst>
          </a:prstGeom>
          <a:solidFill>
            <a:srgbClr val="EA9999">
              <a:alpha val="28000"/>
            </a:srgbClr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5444400" y="1249875"/>
            <a:ext cx="1127100" cy="502200"/>
          </a:xfrm>
          <a:prstGeom prst="wedgeRoundRectCallout">
            <a:avLst>
              <a:gd fmla="val -66497" name="adj1"/>
              <a:gd fmla="val 76379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URL including the catoid</a:t>
            </a:r>
            <a:endParaRPr b="1"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3" name="Google Shape;173;p26"/>
          <p:cNvSpPr/>
          <p:nvPr/>
        </p:nvSpPr>
        <p:spPr>
          <a:xfrm>
            <a:off x="763950" y="2596775"/>
            <a:ext cx="1341600" cy="502200"/>
          </a:xfrm>
          <a:prstGeom prst="wedgeRoundRectCallout">
            <a:avLst>
              <a:gd fmla="val 57045" name="adj1"/>
              <a:gd fmla="val 72411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catoid</a:t>
            </a: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 also passed into config</a:t>
            </a:r>
            <a:endParaRPr b="1"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7" title="Screenshot 2025-05-14 at 7.37.2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275" y="1204675"/>
            <a:ext cx="5613701" cy="34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Scraper Module Labeled Example — Using Catoid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1350925" y="1461000"/>
            <a:ext cx="5476200" cy="3122700"/>
          </a:xfrm>
          <a:prstGeom prst="roundRect">
            <a:avLst>
              <a:gd fmla="val 5511" name="adj"/>
            </a:avLst>
          </a:prstGeom>
          <a:solidFill>
            <a:srgbClr val="F6B26B">
              <a:alpha val="27500"/>
            </a:srgbClr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6943975" y="1017725"/>
            <a:ext cx="1647600" cy="1566000"/>
          </a:xfrm>
          <a:prstGeom prst="star5">
            <a:avLst>
              <a:gd fmla="val 24557" name="adj"/>
              <a:gd fmla="val 105146" name="hf"/>
              <a:gd fmla="val 110557" name="vf"/>
            </a:avLst>
          </a:prstGeom>
          <a:solidFill>
            <a:srgbClr val="F4CCCC"/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Everything else stays the same!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8" title="Screenshot 2025-04-23 at 3.12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00" y="3145862"/>
            <a:ext cx="2826898" cy="1467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8" title="Screenshot 2025-04-23 at 3.12.59 PM.png"/>
          <p:cNvPicPr preferRelativeResize="0"/>
          <p:nvPr/>
        </p:nvPicPr>
        <p:blipFill rotWithShape="1">
          <a:blip r:embed="rId4">
            <a:alphaModFix/>
          </a:blip>
          <a:srcRect b="49809" l="0" r="0" t="0"/>
          <a:stretch/>
        </p:blipFill>
        <p:spPr>
          <a:xfrm>
            <a:off x="147000" y="1750962"/>
            <a:ext cx="2826901" cy="131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8" title="Screenshot 2025-04-23 at 3.14.26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9425" y="1752049"/>
            <a:ext cx="5536850" cy="93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 txBox="1"/>
          <p:nvPr>
            <p:ph idx="1" type="body"/>
          </p:nvPr>
        </p:nvSpPr>
        <p:spPr>
          <a:xfrm>
            <a:off x="147000" y="1210038"/>
            <a:ext cx="24396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000" u="sng"/>
              <a:t>Website Input:</a:t>
            </a:r>
            <a:endParaRPr b="1" sz="2000" u="sng"/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3330250" y="1210050"/>
            <a:ext cx="37677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000" u="sng"/>
              <a:t>Scraper Report Output:</a:t>
            </a:r>
            <a:endParaRPr b="1" sz="2000" u="sng"/>
          </a:p>
        </p:txBody>
      </p:sp>
      <p:sp>
        <p:nvSpPr>
          <p:cNvPr id="191" name="Google Shape;19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Scraping Success — Adams State University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title"/>
          </p:nvPr>
        </p:nvSpPr>
        <p:spPr>
          <a:xfrm>
            <a:off x="311700" y="445025"/>
            <a:ext cx="86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Scraping </a:t>
            </a:r>
            <a:r>
              <a:rPr lang="en"/>
              <a:t>Issues — Duke University</a:t>
            </a:r>
            <a:endParaRPr/>
          </a:p>
        </p:txBody>
      </p:sp>
      <p:pic>
        <p:nvPicPr>
          <p:cNvPr id="197" name="Google Shape;197;p29" title="Screenshot 2025-04-23 at 11.36.1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1112" y="3053200"/>
            <a:ext cx="3572577" cy="191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9"/>
          <p:cNvSpPr txBox="1"/>
          <p:nvPr/>
        </p:nvSpPr>
        <p:spPr>
          <a:xfrm>
            <a:off x="99750" y="1093925"/>
            <a:ext cx="3683700" cy="3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General </a:t>
            </a:r>
            <a:r>
              <a:rPr b="1" lang="en" sz="2000" u="sng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Issues Encountered: </a:t>
            </a:r>
            <a:endParaRPr b="1" sz="2000" u="sng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Char char="●"/>
            </a:pPr>
            <a:r>
              <a:rPr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Websites blocking access to our scrapers because of the large amount of requests being given to the server</a:t>
            </a:r>
            <a:endParaRPr sz="1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Char char="●"/>
            </a:pPr>
            <a:r>
              <a:rPr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Our scrapers cannot access schools using CourseDog website builders</a:t>
            </a:r>
            <a:endParaRPr sz="1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accent3"/>
              </a:buClr>
              <a:buSzPts val="1600"/>
              <a:buFont typeface="Proxima Nova"/>
              <a:buChar char="●"/>
            </a:pPr>
            <a:r>
              <a:rPr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Poorly optimized websites need manual creation for our scraper</a:t>
            </a:r>
            <a:endParaRPr sz="1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4167000" y="1099350"/>
            <a:ext cx="4900800" cy="21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Duke Example:</a:t>
            </a:r>
            <a:endParaRPr b="1" sz="2000" u="sng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Char char="●"/>
            </a:pPr>
            <a:r>
              <a:rPr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The issue with Duke University is that its site uses a system called CourseDog</a:t>
            </a:r>
            <a:endParaRPr sz="1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accent3"/>
              </a:buClr>
              <a:buSzPts val="1600"/>
              <a:buFont typeface="Proxima Nova"/>
              <a:buChar char="○"/>
            </a:pPr>
            <a:r>
              <a:rPr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Not able to be scraped from HTML or AJAX, two scraping methods we currently have currently scraping right now.</a:t>
            </a:r>
            <a:endParaRPr sz="1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311700" y="445025"/>
            <a:ext cx="875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PDF Scraping Success </a:t>
            </a:r>
            <a:r>
              <a:rPr i="1" lang="en"/>
              <a:t>— </a:t>
            </a:r>
            <a:r>
              <a:rPr lang="en"/>
              <a:t>Denmark Technical College</a:t>
            </a:r>
            <a:endParaRPr/>
          </a:p>
        </p:txBody>
      </p:sp>
      <p:pic>
        <p:nvPicPr>
          <p:cNvPr id="205" name="Google Shape;20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3" y="1995563"/>
            <a:ext cx="4330920" cy="2148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300" y="1975575"/>
            <a:ext cx="4037416" cy="2188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207775" y="1322525"/>
            <a:ext cx="37377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000" u="sng"/>
              <a:t>PDF Input:</a:t>
            </a:r>
            <a:r>
              <a:rPr lang="en" sz="2200"/>
              <a:t> </a:t>
            </a:r>
            <a:r>
              <a:rPr lang="en"/>
              <a:t>PDF 211 Page</a:t>
            </a:r>
            <a:endParaRPr sz="2200"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4494925" y="1322525"/>
            <a:ext cx="44169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/>
              <a:t>PDF Scraper Output:</a:t>
            </a:r>
            <a:r>
              <a:rPr lang="en" sz="2000"/>
              <a:t> </a:t>
            </a:r>
            <a:r>
              <a:rPr lang="en"/>
              <a:t>JSON Output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/>
        </p:nvSpPr>
        <p:spPr>
          <a:xfrm>
            <a:off x="4244350" y="1152475"/>
            <a:ext cx="4587900" cy="28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Alabama A&amp;M example:</a:t>
            </a:r>
            <a:endParaRPr i="1" sz="1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Due to the document formatting, PDFMiner reads these two courses as only one line, instead of two separate course listings.</a:t>
            </a:r>
            <a:endParaRPr i="1" sz="1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4" name="Google Shape;21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PDF Scraping Issues — Alabama A&amp;M</a:t>
            </a:r>
            <a:endParaRPr/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311700" y="1152475"/>
            <a:ext cx="3803100" cy="38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/>
              <a:t>General </a:t>
            </a:r>
            <a:r>
              <a:rPr b="1" lang="en" sz="2000" u="sng"/>
              <a:t>Issues Encountered:</a:t>
            </a:r>
            <a:endParaRPr b="1" sz="2000" u="sng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Inconsistent formatting in PDFs caused inaccuracy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Different sections of certain PDFs required different parsing methods, making it more difficult to properly scrape an entire document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 sz="1600"/>
              <a:t>PDFMiner encountered trouble with poorly formatted PDFs</a:t>
            </a:r>
            <a:endParaRPr sz="1600"/>
          </a:p>
        </p:txBody>
      </p:sp>
      <p:pic>
        <p:nvPicPr>
          <p:cNvPr id="216" name="Google Shape;21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5650" y="1767200"/>
            <a:ext cx="4350900" cy="804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PDF Scraping Issues - Pennsylvania State University</a:t>
            </a:r>
            <a:endParaRPr/>
          </a:p>
        </p:txBody>
      </p:sp>
      <p:pic>
        <p:nvPicPr>
          <p:cNvPr id="222" name="Google Shape;2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50" y="1653650"/>
            <a:ext cx="3917001" cy="279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8400" y="1814000"/>
            <a:ext cx="4383475" cy="24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422550" y="1083000"/>
            <a:ext cx="43836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000" u="sng"/>
              <a:t>Penn State Course Catalog PDF</a:t>
            </a:r>
            <a:endParaRPr sz="2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idx="1" type="body"/>
          </p:nvPr>
        </p:nvSpPr>
        <p:spPr>
          <a:xfrm>
            <a:off x="311700" y="1152475"/>
            <a:ext cx="8520600" cy="37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Evaluated</a:t>
            </a:r>
            <a:r>
              <a:rPr b="1" lang="en"/>
              <a:t>:</a:t>
            </a:r>
            <a:r>
              <a:rPr lang="en"/>
              <a:t> First step in pipeline, assess whether a given school is scrapable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Scraped:</a:t>
            </a:r>
            <a:r>
              <a:rPr lang="en"/>
              <a:t> Scraper configuration created for the school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Includes both Web and PDF based scrapers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Confirmed:</a:t>
            </a:r>
            <a:r>
              <a:rPr lang="en"/>
              <a:t> Final processed results are compared using two independent scraping method (different scraper tool, pdf catalog, manual checking)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all scrapers need to be confirmed, this is meant to be a metric to evaluate overall quality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b="1" lang="en"/>
              <a:t>Final Review:</a:t>
            </a:r>
            <a:r>
              <a:rPr lang="en"/>
              <a:t> Final step in process, final set of Hydrogen related courses reviewed by industry expert to verify the quality of the dataset</a:t>
            </a:r>
            <a:endParaRPr/>
          </a:p>
        </p:txBody>
      </p:sp>
      <p:sp>
        <p:nvSpPr>
          <p:cNvPr id="230" name="Google Shape;230;p33"/>
          <p:cNvSpPr txBox="1"/>
          <p:nvPr>
            <p:ph type="title"/>
          </p:nvPr>
        </p:nvSpPr>
        <p:spPr>
          <a:xfrm>
            <a:off x="311700" y="470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for Evaluation — Terms and Definitions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/>
          <p:nvPr/>
        </p:nvSpPr>
        <p:spPr>
          <a:xfrm>
            <a:off x="2934100" y="3538593"/>
            <a:ext cx="1380900" cy="3678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6" name="Google Shape;236;p34"/>
          <p:cNvSpPr/>
          <p:nvPr/>
        </p:nvSpPr>
        <p:spPr>
          <a:xfrm>
            <a:off x="7352887" y="2495600"/>
            <a:ext cx="1153500" cy="7905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7" name="Google Shape;237;p34"/>
          <p:cNvSpPr txBox="1"/>
          <p:nvPr/>
        </p:nvSpPr>
        <p:spPr>
          <a:xfrm>
            <a:off x="2858675" y="3517143"/>
            <a:ext cx="152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Main Scraper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8" name="Google Shape;238;p34"/>
          <p:cNvSpPr/>
          <p:nvPr/>
        </p:nvSpPr>
        <p:spPr>
          <a:xfrm>
            <a:off x="827198" y="1693418"/>
            <a:ext cx="720300" cy="4542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9" name="Google Shape;23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/>
              <a:t>Confidence In Results</a:t>
            </a:r>
            <a:endParaRPr/>
          </a:p>
        </p:txBody>
      </p:sp>
      <p:cxnSp>
        <p:nvCxnSpPr>
          <p:cNvPr id="240" name="Google Shape;240;p34"/>
          <p:cNvCxnSpPr>
            <a:stCxn id="238" idx="3"/>
          </p:cNvCxnSpPr>
          <p:nvPr/>
        </p:nvCxnSpPr>
        <p:spPr>
          <a:xfrm>
            <a:off x="1547498" y="1920518"/>
            <a:ext cx="13017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1" name="Google Shape;241;p34"/>
          <p:cNvSpPr txBox="1"/>
          <p:nvPr/>
        </p:nvSpPr>
        <p:spPr>
          <a:xfrm>
            <a:off x="2930075" y="1721243"/>
            <a:ext cx="1380900" cy="4002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pdfminer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2" name="Google Shape;242;p34"/>
          <p:cNvSpPr txBox="1"/>
          <p:nvPr/>
        </p:nvSpPr>
        <p:spPr>
          <a:xfrm>
            <a:off x="914851" y="1728093"/>
            <a:ext cx="538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.pdf</a:t>
            </a:r>
            <a:endParaRPr sz="13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3" name="Google Shape;243;p34"/>
          <p:cNvSpPr/>
          <p:nvPr/>
        </p:nvSpPr>
        <p:spPr>
          <a:xfrm>
            <a:off x="5506925" y="1905493"/>
            <a:ext cx="1184400" cy="7050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Processed</a:t>
            </a: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Course Data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44" name="Google Shape;244;p34"/>
          <p:cNvCxnSpPr/>
          <p:nvPr/>
        </p:nvCxnSpPr>
        <p:spPr>
          <a:xfrm rot="10800000">
            <a:off x="4387075" y="1921393"/>
            <a:ext cx="1041000" cy="367800"/>
          </a:xfrm>
          <a:prstGeom prst="bentConnector3">
            <a:avLst>
              <a:gd fmla="val 5051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34"/>
          <p:cNvCxnSpPr>
            <a:stCxn id="246" idx="3"/>
          </p:cNvCxnSpPr>
          <p:nvPr/>
        </p:nvCxnSpPr>
        <p:spPr>
          <a:xfrm>
            <a:off x="1558948" y="2688068"/>
            <a:ext cx="12630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34"/>
          <p:cNvSpPr txBox="1"/>
          <p:nvPr/>
        </p:nvSpPr>
        <p:spPr>
          <a:xfrm>
            <a:off x="2930075" y="2487968"/>
            <a:ext cx="1380900" cy="4002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Naive Scraper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48" name="Google Shape;248;p34"/>
          <p:cNvCxnSpPr/>
          <p:nvPr/>
        </p:nvCxnSpPr>
        <p:spPr>
          <a:xfrm flipH="1" rot="10800000">
            <a:off x="4365325" y="2289193"/>
            <a:ext cx="1075200" cy="392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p34"/>
          <p:cNvCxnSpPr>
            <a:stCxn id="246" idx="2"/>
            <a:endCxn id="237" idx="1"/>
          </p:cNvCxnSpPr>
          <p:nvPr/>
        </p:nvCxnSpPr>
        <p:spPr>
          <a:xfrm flipH="1" rot="-5400000">
            <a:off x="1627648" y="2486318"/>
            <a:ext cx="802200" cy="1659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0" name="Google Shape;250;p34"/>
          <p:cNvSpPr/>
          <p:nvPr/>
        </p:nvSpPr>
        <p:spPr>
          <a:xfrm>
            <a:off x="5506925" y="3162218"/>
            <a:ext cx="1184400" cy="7050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Processed</a:t>
            </a: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Course Data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51" name="Google Shape;251;p34"/>
          <p:cNvCxnSpPr>
            <a:stCxn id="237" idx="3"/>
          </p:cNvCxnSpPr>
          <p:nvPr/>
        </p:nvCxnSpPr>
        <p:spPr>
          <a:xfrm flipH="1" rot="10800000">
            <a:off x="4382375" y="3547143"/>
            <a:ext cx="1023000" cy="170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p34"/>
          <p:cNvSpPr txBox="1"/>
          <p:nvPr/>
        </p:nvSpPr>
        <p:spPr>
          <a:xfrm>
            <a:off x="1616525" y="3174668"/>
            <a:ext cx="9534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Main Pipeline</a:t>
            </a:r>
            <a:endParaRPr b="1" i="1" sz="12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3" name="Google Shape;253;p34"/>
          <p:cNvSpPr txBox="1"/>
          <p:nvPr/>
        </p:nvSpPr>
        <p:spPr>
          <a:xfrm>
            <a:off x="1564325" y="2067981"/>
            <a:ext cx="1226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Confirmation Pipeline</a:t>
            </a:r>
            <a:endParaRPr b="1" i="1" sz="12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4" name="Google Shape;254;p34"/>
          <p:cNvSpPr txBox="1"/>
          <p:nvPr/>
        </p:nvSpPr>
        <p:spPr>
          <a:xfrm>
            <a:off x="832649" y="2495606"/>
            <a:ext cx="884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website</a:t>
            </a:r>
            <a:endParaRPr sz="13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6" name="Google Shape;246;p34"/>
          <p:cNvSpPr/>
          <p:nvPr/>
        </p:nvSpPr>
        <p:spPr>
          <a:xfrm>
            <a:off x="838648" y="2460968"/>
            <a:ext cx="720300" cy="4542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5" name="Google Shape;255;p34"/>
          <p:cNvSpPr txBox="1"/>
          <p:nvPr/>
        </p:nvSpPr>
        <p:spPr>
          <a:xfrm>
            <a:off x="7298250" y="2586950"/>
            <a:ext cx="12630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Results Comparison</a:t>
            </a:r>
            <a:endParaRPr b="1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56" name="Google Shape;256;p34"/>
          <p:cNvCxnSpPr/>
          <p:nvPr/>
        </p:nvCxnSpPr>
        <p:spPr>
          <a:xfrm flipH="1" rot="10800000">
            <a:off x="6858475" y="3382243"/>
            <a:ext cx="1065300" cy="208500"/>
          </a:xfrm>
          <a:prstGeom prst="bentConnector3">
            <a:avLst>
              <a:gd fmla="val 9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34"/>
          <p:cNvCxnSpPr/>
          <p:nvPr/>
        </p:nvCxnSpPr>
        <p:spPr>
          <a:xfrm>
            <a:off x="6797675" y="2218093"/>
            <a:ext cx="1127400" cy="189300"/>
          </a:xfrm>
          <a:prstGeom prst="bentConnector3">
            <a:avLst>
              <a:gd fmla="val 9998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Progress Made</a:t>
            </a:r>
            <a:endParaRPr/>
          </a:p>
        </p:txBody>
      </p:sp>
      <p:pic>
        <p:nvPicPr>
          <p:cNvPr id="263" name="Google Shape;263;p35" title="Overall Progress by Pipeline Stage (Starting with 107 School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6000" y="1361325"/>
            <a:ext cx="5266275" cy="325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5"/>
          <p:cNvSpPr txBox="1"/>
          <p:nvPr/>
        </p:nvSpPr>
        <p:spPr>
          <a:xfrm>
            <a:off x="321325" y="1409050"/>
            <a:ext cx="3331200" cy="3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Char char="●"/>
            </a:pPr>
            <a:r>
              <a:rPr b="1"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107 total</a:t>
            </a:r>
            <a:r>
              <a:rPr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schools</a:t>
            </a:r>
            <a:endParaRPr b="1" sz="1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Char char="●"/>
            </a:pPr>
            <a:r>
              <a:rPr b="1"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67 evaluated</a:t>
            </a:r>
            <a:r>
              <a:rPr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1"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(63% of total)</a:t>
            </a:r>
            <a:endParaRPr i="1" sz="1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Char char="●"/>
            </a:pPr>
            <a:r>
              <a:rPr b="1"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49 scraped</a:t>
            </a:r>
            <a:r>
              <a:rPr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1"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(73% of evaluated 46% of total)</a:t>
            </a:r>
            <a:endParaRPr i="1" sz="1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b="1"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1 confirmed</a:t>
            </a:r>
            <a:r>
              <a:rPr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1"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(2% of total)</a:t>
            </a:r>
            <a:endParaRPr i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PDF scraping and confirmation stages had the slowest progress due to inconsistent formatting, scraper limitations, and manual review needs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Confirmation Report — Penn State</a:t>
            </a:r>
            <a:endParaRPr/>
          </a:p>
        </p:txBody>
      </p:sp>
      <p:sp>
        <p:nvSpPr>
          <p:cNvPr id="270" name="Google Shape;270;p36"/>
          <p:cNvSpPr txBox="1"/>
          <p:nvPr>
            <p:ph idx="1" type="body"/>
          </p:nvPr>
        </p:nvSpPr>
        <p:spPr>
          <a:xfrm>
            <a:off x="311700" y="1152475"/>
            <a:ext cx="4260300" cy="3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only school we were able to </a:t>
            </a:r>
            <a:r>
              <a:rPr lang="en"/>
              <a:t>obtain a high enough quality PDF course dataset to perform useful a comparison with was Penn State University.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Able to compare: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Course counts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Keyword Scrorings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Derived from matched keywords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Duplicate courses</a:t>
            </a:r>
            <a:endParaRPr/>
          </a:p>
        </p:txBody>
      </p:sp>
      <p:pic>
        <p:nvPicPr>
          <p:cNvPr id="271" name="Google Shape;271;p36" title="Screenshot 2025-05-23 at 1.39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3050" y="1152475"/>
            <a:ext cx="3750600" cy="250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Visualizing Results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Displaying Results Per School</a:t>
            </a:r>
            <a:endParaRPr/>
          </a:p>
        </p:txBody>
      </p:sp>
      <p:pic>
        <p:nvPicPr>
          <p:cNvPr id="282" name="Google Shape;282;p38" title="keywords copy.jpg"/>
          <p:cNvPicPr preferRelativeResize="0"/>
          <p:nvPr/>
        </p:nvPicPr>
        <p:blipFill rotWithShape="1">
          <a:blip r:embed="rId3">
            <a:alphaModFix/>
          </a:blip>
          <a:srcRect b="10188" l="6554" r="6056" t="33580"/>
          <a:stretch/>
        </p:blipFill>
        <p:spPr>
          <a:xfrm>
            <a:off x="4316157" y="1137350"/>
            <a:ext cx="3626942" cy="341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8" title="Screenshot 2025-05-18 at 2.53.1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1150" y="1137350"/>
            <a:ext cx="2271105" cy="3412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8"/>
          <p:cNvSpPr txBox="1"/>
          <p:nvPr/>
        </p:nvSpPr>
        <p:spPr>
          <a:xfrm>
            <a:off x="125" y="4549575"/>
            <a:ext cx="91440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Keyword Frequencies Per School H</a:t>
            </a:r>
            <a:r>
              <a:rPr b="1" i="1" lang="en" sz="13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istograms</a:t>
            </a:r>
            <a:r>
              <a:rPr b="1" i="1" lang="en" sz="13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r>
              <a:rPr i="1" lang="en" sz="13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Different levels of granularity provided depending on client needs.</a:t>
            </a:r>
            <a:endParaRPr i="1" sz="13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Displaying Results Across Schools</a:t>
            </a:r>
            <a:endParaRPr/>
          </a:p>
        </p:txBody>
      </p:sp>
      <p:pic>
        <p:nvPicPr>
          <p:cNvPr id="290" name="Google Shape;290;p39" title="group_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00" y="1195275"/>
            <a:ext cx="4294825" cy="33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9"/>
          <p:cNvSpPr txBox="1"/>
          <p:nvPr/>
        </p:nvSpPr>
        <p:spPr>
          <a:xfrm>
            <a:off x="125" y="4473375"/>
            <a:ext cx="91440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Keyword Frequencies</a:t>
            </a:r>
            <a:r>
              <a:rPr b="1" i="1" lang="en" sz="13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Across Schools Heatmaps: </a:t>
            </a:r>
            <a:r>
              <a:rPr i="1" lang="en" sz="13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i="1" lang="en" sz="13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ifferent levels of granularity provided depending on client needs.</a:t>
            </a:r>
            <a:endParaRPr i="1" sz="13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92" name="Google Shape;292;p39" title="keyword_heat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330575"/>
            <a:ext cx="4186148" cy="299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298" name="Google Shape;298;p40"/>
          <p:cNvSpPr txBox="1"/>
          <p:nvPr/>
        </p:nvSpPr>
        <p:spPr>
          <a:xfrm>
            <a:off x="488850" y="3272550"/>
            <a:ext cx="42033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rPr>
              <a:t>Repository can be found </a:t>
            </a:r>
            <a:r>
              <a:rPr lang="en" sz="18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here</a:t>
            </a:r>
            <a:endParaRPr sz="1800">
              <a:solidFill>
                <a:schemeClr val="accent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Next?</a:t>
            </a:r>
            <a:endParaRPr/>
          </a:p>
        </p:txBody>
      </p:sp>
      <p:sp>
        <p:nvSpPr>
          <p:cNvPr id="304" name="Google Shape;304;p41"/>
          <p:cNvSpPr txBox="1"/>
          <p:nvPr>
            <p:ph idx="1" type="body"/>
          </p:nvPr>
        </p:nvSpPr>
        <p:spPr>
          <a:xfrm>
            <a:off x="311700" y="1152475"/>
            <a:ext cx="8520600" cy="38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Building a User-Facing Website</a:t>
            </a:r>
            <a:endParaRPr sz="17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Improve usability and accessibility for non-technical users. The existing modular structure and automation scripts provide a solid foundation for integration.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Enhance data storage, querying, and scalability beyond file-based processing.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Improving Course Classification</a:t>
            </a:r>
            <a:endParaRPr sz="17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current keyword scoring system is prone to false positives/negatives, especially when course language is inconsistent.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Consider machine learning or NLP techniques for more reliable classification.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Expanding the Dataset</a:t>
            </a:r>
            <a:endParaRPr sz="17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Include additional schools, training programs, and external sources such as job postings.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Enables richer, cross-sector analysis of workforce needs in the hydrogen economy.</a:t>
            </a:r>
            <a:endParaRPr sz="1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2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